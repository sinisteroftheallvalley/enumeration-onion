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16"/>
  </p:notesMasterIdLst>
  <p:sldIdLst>
    <p:sldId id="256" r:id="rId2"/>
    <p:sldId id="258" r:id="rId3"/>
    <p:sldId id="257" r:id="rId4"/>
    <p:sldId id="260" r:id="rId5"/>
    <p:sldId id="259" r:id="rId6"/>
    <p:sldId id="261" r:id="rId7"/>
    <p:sldId id="264" r:id="rId8"/>
    <p:sldId id="262" r:id="rId9"/>
    <p:sldId id="270" r:id="rId10"/>
    <p:sldId id="271" r:id="rId11"/>
    <p:sldId id="272" r:id="rId12"/>
    <p:sldId id="273" r:id="rId13"/>
    <p:sldId id="267" r:id="rId14"/>
    <p:sldId id="269" r:id="rId15"/>
  </p:sldIdLst>
  <p:sldSz cx="9144000" cy="6858000" type="screen4x3"/>
  <p:notesSz cx="7559675" cy="10691813"/>
  <p:embeddedFontLst>
    <p:embeddedFont>
      <p:font typeface="Lato" panose="020F0502020204030203"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BEFA08A7-6A03-49DF-BF6E-9BECBDCB3F39}">
          <p14:sldIdLst>
            <p14:sldId id="256"/>
            <p14:sldId id="258"/>
            <p14:sldId id="257"/>
            <p14:sldId id="260"/>
            <p14:sldId id="259"/>
            <p14:sldId id="261"/>
            <p14:sldId id="264"/>
            <p14:sldId id="262"/>
          </p14:sldIdLst>
        </p14:section>
        <p14:section name="Untitled Section" id="{56169A3F-77E5-4C57-BC0F-1EED3DA6ECF0}">
          <p14:sldIdLst>
            <p14:sldId id="270"/>
            <p14:sldId id="271"/>
            <p14:sldId id="272"/>
            <p14:sldId id="273"/>
            <p14:sldId id="267"/>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80" name="Google Shape;8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82" name="Google Shape;82;p1:notes"/>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bef2a382f0_0_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7" name="Google Shape;87;g3bef2a382f0_0_0: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g3bef2a382f0_0_0: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ef2a382f0_0_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08" name="Google Shape;108;g3bef2a382f0_0_11: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bef2a382f0_0_11: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b1e158ab0c_0_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01" name="Google Shape;101;g3b1e158ab0c_0_0: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g3b1e158ab0c_0_0: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1e158ab0c_0_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15" name="Google Shape;115;g3b1e158ab0c_0_4: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g3b1e158ab0c_0_4: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b1e158ab0c_0_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6" name="Google Shape;136;g3b1e158ab0c_0_8: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3b1e158ab0c_0_8: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bef2a382f0_0_2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22" name="Google Shape;122;g3bef2a382f0_0_21: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g3bef2a382f0_0_21: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b1e158ab0c_0_2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57" name="Google Shape;157;g3b1e158ab0c_0_20: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g3b1e158ab0c_0_20: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4"/>
        <p:cNvGrpSpPr/>
        <p:nvPr/>
      </p:nvGrpSpPr>
      <p:grpSpPr>
        <a:xfrm>
          <a:off x="0" y="0"/>
          <a:ext cx="0" cy="0"/>
          <a:chOff x="0" y="0"/>
          <a:chExt cx="0" cy="0"/>
        </a:xfrm>
      </p:grpSpPr>
      <p:sp>
        <p:nvSpPr>
          <p:cNvPr id="35" name="Google Shape;35;p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5"/>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3"/>
        <p:cNvGrpSpPr/>
        <p:nvPr/>
      </p:nvGrpSpPr>
      <p:grpSpPr>
        <a:xfrm>
          <a:off x="0" y="0"/>
          <a:ext cx="0" cy="0"/>
          <a:chOff x="0" y="0"/>
          <a:chExt cx="0" cy="0"/>
        </a:xfrm>
      </p:grpSpPr>
      <p:sp>
        <p:nvSpPr>
          <p:cNvPr id="44" name="Google Shape;44;p7"/>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8"/>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8"/>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9"/>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9"/>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9"/>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0"/>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0"/>
        <p:cNvGrpSpPr/>
        <p:nvPr/>
      </p:nvGrpSpPr>
      <p:grpSpPr>
        <a:xfrm>
          <a:off x="0" y="0"/>
          <a:ext cx="0" cy="0"/>
          <a:chOff x="0" y="0"/>
          <a:chExt cx="0" cy="0"/>
        </a:xfrm>
      </p:grpSpPr>
      <p:sp>
        <p:nvSpPr>
          <p:cNvPr id="61" name="Google Shape;61;p1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1"/>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1"/>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2"/>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2"/>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2"/>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2"/>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1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3"/>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3"/>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3"/>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3"/>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1"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pic>
        <p:nvPicPr>
          <p:cNvPr id="13" name="Google Shape;13;p1"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grpSp>
        <p:nvGrpSpPr>
          <p:cNvPr id="14" name="Google Shape;14;p1"/>
          <p:cNvGrpSpPr/>
          <p:nvPr/>
        </p:nvGrpSpPr>
        <p:grpSpPr>
          <a:xfrm>
            <a:off x="6146640" y="0"/>
            <a:ext cx="2997000" cy="875880"/>
            <a:chOff x="6146640" y="0"/>
            <a:chExt cx="2997000" cy="875880"/>
          </a:xfrm>
        </p:grpSpPr>
        <p:sp>
          <p:nvSpPr>
            <p:cNvPr id="15" name="Google Shape;15;p1"/>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16;p1"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sp>
          <p:nvSpPr>
            <p:cNvPr id="17" name="Google Shape;17;p1"/>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Google Shape;18;p1" descr="logo.jpg"/>
          <p:cNvPicPr preferRelativeResize="0"/>
          <p:nvPr/>
        </p:nvPicPr>
        <p:blipFill rotWithShape="1">
          <a:blip r:embed="rId14">
            <a:alphaModFix/>
          </a:blip>
          <a:srcRect/>
          <a:stretch/>
        </p:blipFill>
        <p:spPr>
          <a:xfrm>
            <a:off x="6553080" y="228600"/>
            <a:ext cx="1920600" cy="609120"/>
          </a:xfrm>
          <a:prstGeom prst="rect">
            <a:avLst/>
          </a:prstGeom>
          <a:noFill/>
          <a:ln>
            <a:noFill/>
          </a:ln>
        </p:spPr>
      </p:pic>
      <p:pic>
        <p:nvPicPr>
          <p:cNvPr id="19" name="Google Shape;19;p1"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grpSp>
        <p:nvGrpSpPr>
          <p:cNvPr id="20" name="Google Shape;20;p1"/>
          <p:cNvGrpSpPr/>
          <p:nvPr/>
        </p:nvGrpSpPr>
        <p:grpSpPr>
          <a:xfrm>
            <a:off x="6146640" y="0"/>
            <a:ext cx="2997000" cy="875880"/>
            <a:chOff x="6146640" y="0"/>
            <a:chExt cx="2997000" cy="875880"/>
          </a:xfrm>
        </p:grpSpPr>
        <p:sp>
          <p:nvSpPr>
            <p:cNvPr id="21" name="Google Shape;21;p1"/>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22;p1"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sp>
          <p:nvSpPr>
            <p:cNvPr id="23" name="Google Shape;23;p1"/>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 name="Google Shape;24;p1" descr="logo.jpg"/>
          <p:cNvPicPr preferRelativeResize="0"/>
          <p:nvPr/>
        </p:nvPicPr>
        <p:blipFill rotWithShape="1">
          <a:blip r:embed="rId14">
            <a:alphaModFix/>
          </a:blip>
          <a:srcRect/>
          <a:stretch/>
        </p:blipFill>
        <p:spPr>
          <a:xfrm>
            <a:off x="6553080" y="228600"/>
            <a:ext cx="1920600" cy="609120"/>
          </a:xfrm>
          <a:prstGeom prst="rect">
            <a:avLst/>
          </a:prstGeom>
          <a:noFill/>
          <a:ln>
            <a:noFill/>
          </a:ln>
        </p:spPr>
      </p:pic>
      <p:sp>
        <p:nvSpPr>
          <p:cNvPr id="25" name="Google Shape;25;p1"/>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1"/>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1"/>
          <p:cNvSpPr txBox="1">
            <a:spLocks noGrp="1"/>
          </p:cNvSpPr>
          <p:nvPr>
            <p:ph type="dt" idx="10"/>
          </p:nvPr>
        </p:nvSpPr>
        <p:spPr>
          <a:xfrm>
            <a:off x="457200" y="6356520"/>
            <a:ext cx="21333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1"/>
          <p:cNvSpPr txBox="1">
            <a:spLocks noGrp="1"/>
          </p:cNvSpPr>
          <p:nvPr>
            <p:ph type="ftr" idx="11"/>
          </p:nvPr>
        </p:nvSpPr>
        <p:spPr>
          <a:xfrm>
            <a:off x="3124080" y="6356520"/>
            <a:ext cx="289512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1"/>
          <p:cNvSpPr txBox="1">
            <a:spLocks noGrp="1"/>
          </p:cNvSpPr>
          <p:nvPr>
            <p:ph type="sldNum" idx="12"/>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txBox="1"/>
          <p:nvPr/>
        </p:nvSpPr>
        <p:spPr>
          <a:xfrm>
            <a:off x="0" y="840631"/>
            <a:ext cx="9144000" cy="5377289"/>
          </a:xfrm>
          <a:prstGeom prst="rect">
            <a:avLst/>
          </a:prstGeom>
          <a:noFill/>
          <a:ln>
            <a:noFill/>
          </a:ln>
        </p:spPr>
        <p:txBody>
          <a:bodyPr spcFirstLastPara="1" wrap="square" lIns="91425" tIns="45700" rIns="91425" bIns="45700" anchor="t" anchorCtr="0">
            <a:noAutofit/>
          </a:bodyPr>
          <a:lstStyle/>
          <a:p>
            <a:pPr lvl="0" algn="ctr"/>
            <a:r>
              <a:rPr lang="en-US" sz="1800" b="1" dirty="0">
                <a:solidFill>
                  <a:schemeClr val="dk1"/>
                </a:solidFill>
                <a:latin typeface="Times New Roman"/>
                <a:ea typeface="Times New Roman"/>
                <a:cs typeface="Times New Roman"/>
                <a:sym typeface="Times New Roman"/>
              </a:rPr>
              <a:t>Project Presentation of Industry Oriented Hands-on Experience (22CS422)</a:t>
            </a:r>
          </a:p>
          <a:p>
            <a:pPr lvl="0" algn="ctr"/>
            <a:endParaRPr lang="en-US" sz="1800" b="1" dirty="0">
              <a:solidFill>
                <a:schemeClr val="dk1"/>
              </a:solidFill>
              <a:latin typeface="Times New Roman"/>
              <a:ea typeface="Times New Roman"/>
              <a:cs typeface="Times New Roman"/>
              <a:sym typeface="Times New Roman"/>
            </a:endParaRPr>
          </a:p>
          <a:p>
            <a:pPr lvl="0" algn="ctr"/>
            <a:r>
              <a:rPr lang="en-US" sz="1800" b="1" dirty="0">
                <a:solidFill>
                  <a:schemeClr val="dk1"/>
                </a:solidFill>
                <a:latin typeface="Times New Roman"/>
                <a:ea typeface="Times New Roman"/>
                <a:cs typeface="Times New Roman"/>
                <a:sym typeface="Times New Roman"/>
              </a:rPr>
              <a:t>On</a:t>
            </a:r>
          </a:p>
          <a:p>
            <a:pPr lvl="0" algn="ctr"/>
            <a:endParaRPr lang="en-US" sz="1800" b="1" dirty="0">
              <a:solidFill>
                <a:schemeClr val="dk1"/>
              </a:solidFill>
              <a:latin typeface="Times New Roman"/>
              <a:ea typeface="Times New Roman"/>
              <a:cs typeface="Times New Roman"/>
              <a:sym typeface="Times New Roman"/>
            </a:endParaRPr>
          </a:p>
          <a:p>
            <a:pPr lvl="0" algn="ctr"/>
            <a:r>
              <a:rPr lang="en-US" sz="2000" b="1" dirty="0">
                <a:solidFill>
                  <a:schemeClr val="dk1"/>
                </a:solidFill>
                <a:latin typeface="Times New Roman"/>
                <a:ea typeface="Times New Roman"/>
                <a:cs typeface="Times New Roman"/>
                <a:sym typeface="Times New Roman"/>
              </a:rPr>
              <a:t>Automated Enumeration of Onion Links (Dark Web Crawler)</a:t>
            </a:r>
          </a:p>
          <a:p>
            <a:pPr lvl="0" algn="ctr"/>
            <a:endParaRPr lang="en-US" sz="1800" b="1" dirty="0">
              <a:solidFill>
                <a:schemeClr val="dk1"/>
              </a:solidFill>
              <a:latin typeface="Times New Roman"/>
              <a:ea typeface="Times New Roman"/>
              <a:cs typeface="Times New Roman"/>
              <a:sym typeface="Times New Roman"/>
            </a:endParaRPr>
          </a:p>
          <a:p>
            <a:pPr lvl="0" algn="ctr"/>
            <a:r>
              <a:rPr lang="en-US" sz="1800" b="1" dirty="0">
                <a:solidFill>
                  <a:schemeClr val="dk1"/>
                </a:solidFill>
                <a:latin typeface="Times New Roman"/>
                <a:ea typeface="Times New Roman"/>
                <a:cs typeface="Times New Roman"/>
                <a:sym typeface="Times New Roman"/>
              </a:rPr>
              <a:t>Nishant Dinesh R. (2210990617)</a:t>
            </a:r>
          </a:p>
          <a:p>
            <a:pPr lvl="0" algn="ctr"/>
            <a:r>
              <a:rPr lang="en-US" sz="1800" b="1" dirty="0">
                <a:solidFill>
                  <a:schemeClr val="dk1"/>
                </a:solidFill>
                <a:latin typeface="Times New Roman"/>
                <a:ea typeface="Times New Roman"/>
                <a:cs typeface="Times New Roman"/>
                <a:sym typeface="Times New Roman"/>
              </a:rPr>
              <a:t>Geetansh Sood       (2210990323)</a:t>
            </a:r>
          </a:p>
          <a:p>
            <a:pPr lvl="0" algn="ctr"/>
            <a:r>
              <a:rPr lang="en-US" sz="1800" b="1" dirty="0">
                <a:solidFill>
                  <a:schemeClr val="dk1"/>
                </a:solidFill>
                <a:latin typeface="Times New Roman"/>
                <a:ea typeface="Times New Roman"/>
                <a:cs typeface="Times New Roman"/>
                <a:sym typeface="Times New Roman"/>
              </a:rPr>
              <a:t>Gautam Nagpal      (2210990321)</a:t>
            </a:r>
          </a:p>
          <a:p>
            <a:pPr lvl="0" algn="ctr"/>
            <a:r>
              <a:rPr lang="en-US" sz="1800" b="1" dirty="0">
                <a:solidFill>
                  <a:schemeClr val="dk1"/>
                </a:solidFill>
                <a:latin typeface="Times New Roman"/>
                <a:ea typeface="Times New Roman"/>
                <a:cs typeface="Times New Roman"/>
                <a:sym typeface="Times New Roman"/>
              </a:rPr>
              <a:t>Lovisha Bansal        (2210990549)</a:t>
            </a:r>
          </a:p>
          <a:p>
            <a:pPr lvl="0" algn="ctr"/>
            <a:endParaRPr lang="en-US" sz="1800" b="1" dirty="0">
              <a:solidFill>
                <a:schemeClr val="dk1"/>
              </a:solidFill>
              <a:latin typeface="Times New Roman"/>
              <a:ea typeface="Times New Roman"/>
              <a:cs typeface="Times New Roman"/>
              <a:sym typeface="Times New Roman"/>
            </a:endParaRPr>
          </a:p>
          <a:p>
            <a:pPr lvl="0" algn="ctr"/>
            <a:endParaRPr lang="en-US" sz="1800" b="1" dirty="0">
              <a:solidFill>
                <a:schemeClr val="dk1"/>
              </a:solidFill>
              <a:latin typeface="Times New Roman"/>
              <a:ea typeface="Times New Roman"/>
              <a:cs typeface="Times New Roman"/>
              <a:sym typeface="Times New Roman"/>
            </a:endParaRPr>
          </a:p>
          <a:p>
            <a:pPr lvl="0" algn="ctr"/>
            <a:r>
              <a:rPr lang="en-US" sz="1800" b="1" dirty="0">
                <a:solidFill>
                  <a:schemeClr val="dk1"/>
                </a:solidFill>
                <a:latin typeface="Times New Roman"/>
                <a:ea typeface="Times New Roman"/>
                <a:cs typeface="Times New Roman"/>
                <a:sym typeface="Times New Roman"/>
              </a:rPr>
              <a:t>Supervised By</a:t>
            </a:r>
          </a:p>
          <a:p>
            <a:pPr lvl="0" algn="ctr"/>
            <a:endParaRPr lang="en-US" sz="1800" b="1" dirty="0">
              <a:solidFill>
                <a:schemeClr val="dk1"/>
              </a:solidFill>
              <a:latin typeface="Times New Roman"/>
              <a:ea typeface="Times New Roman"/>
              <a:cs typeface="Times New Roman"/>
              <a:sym typeface="Times New Roman"/>
            </a:endParaRPr>
          </a:p>
          <a:p>
            <a:pPr lvl="0" algn="ctr"/>
            <a:r>
              <a:rPr lang="en-US" sz="1800" b="1" dirty="0">
                <a:solidFill>
                  <a:schemeClr val="dk1"/>
                </a:solidFill>
                <a:latin typeface="Times New Roman"/>
                <a:ea typeface="Times New Roman"/>
                <a:cs typeface="Times New Roman"/>
                <a:sym typeface="Times New Roman"/>
              </a:rPr>
              <a:t>Dr. PK Khosla</a:t>
            </a:r>
            <a:br>
              <a:rPr lang="en-US" sz="1800" b="1" dirty="0">
                <a:solidFill>
                  <a:schemeClr val="dk1"/>
                </a:solidFill>
                <a:latin typeface="Times New Roman"/>
                <a:ea typeface="Times New Roman"/>
                <a:cs typeface="Times New Roman"/>
                <a:sym typeface="Times New Roman"/>
              </a:rPr>
            </a:br>
            <a:r>
              <a:rPr lang="en-US" sz="1800" b="1" dirty="0">
                <a:solidFill>
                  <a:schemeClr val="dk1"/>
                </a:solidFill>
                <a:latin typeface="Times New Roman"/>
                <a:ea typeface="Times New Roman"/>
                <a:cs typeface="Times New Roman"/>
                <a:sym typeface="Times New Roman"/>
              </a:rPr>
              <a:t>Dr. Amanpreet Kaur</a:t>
            </a:r>
            <a:br>
              <a:rPr lang="en-US" sz="1800" b="1" dirty="0">
                <a:solidFill>
                  <a:schemeClr val="dk1"/>
                </a:solidFill>
                <a:latin typeface="Times New Roman"/>
                <a:ea typeface="Times New Roman"/>
                <a:cs typeface="Times New Roman"/>
                <a:sym typeface="Times New Roman"/>
              </a:rPr>
            </a:br>
            <a:r>
              <a:rPr lang="en-US" sz="1800" b="1" dirty="0">
                <a:solidFill>
                  <a:schemeClr val="dk1"/>
                </a:solidFill>
                <a:latin typeface="Times New Roman"/>
                <a:ea typeface="Times New Roman"/>
                <a:cs typeface="Times New Roman"/>
                <a:sym typeface="Times New Roman"/>
              </a:rPr>
              <a:t>Dr. Simarjit Kaur</a:t>
            </a:r>
          </a:p>
          <a:p>
            <a:pPr lvl="0" algn="ctr"/>
            <a:endParaRPr lang="en-US" sz="1800" b="1" dirty="0">
              <a:solidFill>
                <a:schemeClr val="dk1"/>
              </a:solidFill>
              <a:latin typeface="Times New Roman"/>
              <a:ea typeface="Times New Roman"/>
              <a:cs typeface="Times New Roman"/>
              <a:sym typeface="Times New Roman"/>
            </a:endParaRPr>
          </a:p>
          <a:p>
            <a:pPr lvl="0" algn="ctr"/>
            <a:r>
              <a:rPr lang="en-US" sz="1800" b="1" dirty="0">
                <a:solidFill>
                  <a:schemeClr val="dk1"/>
                </a:solidFill>
                <a:latin typeface="Times New Roman"/>
                <a:ea typeface="Times New Roman"/>
                <a:cs typeface="Times New Roman"/>
                <a:sym typeface="Times New Roman"/>
              </a:rPr>
              <a:t>Department of Computer Science and Engineering,</a:t>
            </a:r>
          </a:p>
          <a:p>
            <a:pPr lvl="0" algn="ctr"/>
            <a:endParaRPr lang="en-US" sz="1800" b="1" dirty="0">
              <a:solidFill>
                <a:schemeClr val="dk1"/>
              </a:solidFill>
              <a:latin typeface="Times New Roman"/>
              <a:ea typeface="Times New Roman"/>
              <a:cs typeface="Times New Roman"/>
              <a:sym typeface="Times New Roman"/>
            </a:endParaRPr>
          </a:p>
          <a:p>
            <a:pPr lvl="0" algn="ctr"/>
            <a:r>
              <a:rPr lang="en-US" sz="1800" b="1" dirty="0">
                <a:solidFill>
                  <a:schemeClr val="dk1"/>
                </a:solidFill>
                <a:latin typeface="Times New Roman"/>
                <a:ea typeface="Times New Roman"/>
                <a:cs typeface="Times New Roman"/>
                <a:sym typeface="Times New Roman"/>
              </a:rPr>
              <a:t>Chitkara University, Punjab</a:t>
            </a: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None/>
            </a:pPr>
            <a:endParaRPr sz="20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3200" b="0" i="0" u="none" strike="noStrike" cap="none">
                <a:solidFill>
                  <a:schemeClr val="dk1"/>
                </a:solidFill>
                <a:latin typeface="Times New Roman"/>
                <a:ea typeface="Times New Roman"/>
                <a:cs typeface="Times New Roman"/>
                <a:sym typeface="Times New Roman"/>
              </a:rPr>
              <a:t>Introduction</a:t>
            </a:r>
            <a:endParaRPr sz="3000" b="0" i="0" u="none" strike="noStrike" cap="none">
              <a:solidFill>
                <a:srgbClr val="000000"/>
              </a:solidFill>
              <a:latin typeface="Times New Roman"/>
              <a:ea typeface="Times New Roman"/>
              <a:cs typeface="Times New Roman"/>
              <a:sym typeface="Times New Roman"/>
            </a:endParaRPr>
          </a:p>
        </p:txBody>
      </p:sp>
      <p:sp>
        <p:nvSpPr>
          <p:cNvPr id="97" name="Google Shape;97;p16"/>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2</a:t>
            </a:fld>
            <a:endParaRPr sz="1200" b="0" i="0" u="none" strike="noStrike" cap="none">
              <a:solidFill>
                <a:schemeClr val="dk1"/>
              </a:solidFill>
              <a:latin typeface="Times New Roman"/>
              <a:ea typeface="Times New Roman"/>
              <a:cs typeface="Times New Roman"/>
              <a:sym typeface="Times New Roman"/>
            </a:endParaRPr>
          </a:p>
        </p:txBody>
      </p:sp>
      <p:sp>
        <p:nvSpPr>
          <p:cNvPr id="98" name="Google Shape;98;p16"/>
          <p:cNvSpPr txBox="1"/>
          <p:nvPr/>
        </p:nvSpPr>
        <p:spPr>
          <a:xfrm>
            <a:off x="164008" y="1109742"/>
            <a:ext cx="8838720" cy="4838571"/>
          </a:xfrm>
          <a:prstGeom prst="rect">
            <a:avLst/>
          </a:prstGeom>
          <a:noFill/>
          <a:ln>
            <a:noFill/>
          </a:ln>
        </p:spPr>
        <p:txBody>
          <a:bodyPr spcFirstLastPara="1" wrap="square" lIns="91425" tIns="45700" rIns="91425" bIns="45700" anchor="t" anchorCtr="0">
            <a:noAutofit/>
          </a:bodyPr>
          <a:lstStyle/>
          <a:p>
            <a:r>
              <a:rPr lang="en-US" sz="1800" dirty="0">
                <a:latin typeface="Times New Roman" panose="02020603050405020304" pitchFamily="18" charset="0"/>
                <a:cs typeface="Times New Roman" panose="02020603050405020304" pitchFamily="18" charset="0"/>
              </a:rPr>
              <a:t>The dark web is a hidden part of the internet accessible only through the Tor network, where websites use .onion domains for anonymous communication. Due to its anonymity, the dark web is often associated with cybercrime, illegal marketplaces, and hidden forums. This project develops an automated crawler to monitor and analyze dark web activities securely.</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Key Points:</a:t>
            </a:r>
          </a:p>
          <a:p>
            <a:pPr marL="0" lvl="0" indent="0" algn="l" rtl="0">
              <a:lnSpc>
                <a:spcPct val="115000"/>
              </a:lnSpc>
              <a:spcBef>
                <a:spcPts val="1200"/>
              </a:spcBef>
              <a:spcAft>
                <a:spcPts val="0"/>
              </a:spcAft>
              <a:buClr>
                <a:schemeClr val="dk1"/>
              </a:buClr>
              <a:buSzPts val="1100"/>
              <a:buFont typeface="Arial"/>
              <a:buNone/>
            </a:pPr>
            <a:endParaRPr sz="600" dirty="0">
              <a:solidFill>
                <a:schemeClr val="dk1"/>
              </a:solidFill>
              <a:latin typeface="Lato"/>
              <a:ea typeface="Lato"/>
              <a:cs typeface="Lato"/>
              <a:sym typeface="Lato"/>
            </a:endParaRP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Accesses .onion websites anonymously using the Tor network</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Uses DFS algorithm to discover and crawl onion links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Detects suspicious content using keyword analysis techniques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Captures screenshots and provides real-time monitoring dashboard</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400"/>
              </a:spcBef>
              <a:spcAft>
                <a:spcPts val="0"/>
              </a:spcAft>
              <a:buNone/>
            </a:pP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400"/>
              </a:spcBef>
              <a:spcAft>
                <a:spcPts val="0"/>
              </a:spcAft>
              <a:buNone/>
            </a:pPr>
            <a:endParaRPr sz="1200" b="0" i="0" u="none" strike="noStrike" cap="none" dirty="0">
              <a:solidFill>
                <a:schemeClr val="dk1"/>
              </a:solidFill>
              <a:latin typeface="Calibri"/>
              <a:ea typeface="Calibri"/>
              <a:cs typeface="Calibri"/>
              <a:sym typeface="Calibri"/>
            </a:endParaRPr>
          </a:p>
          <a:p>
            <a:pPr marL="0" marR="0" lvl="0" indent="0" algn="l" rtl="0">
              <a:lnSpc>
                <a:spcPct val="150000"/>
              </a:lnSpc>
              <a:spcBef>
                <a:spcPts val="400"/>
              </a:spcBef>
              <a:spcAft>
                <a:spcPts val="0"/>
              </a:spcAft>
              <a:buNone/>
            </a:pPr>
            <a:endParaRPr sz="1200" b="0" i="0" u="none" strike="noStrike" cap="none" dirty="0">
              <a:solidFill>
                <a:schemeClr val="dk1"/>
              </a:solidFill>
              <a:latin typeface="Calibri"/>
              <a:ea typeface="Calibri"/>
              <a:cs typeface="Calibri"/>
              <a:sym typeface="Calibri"/>
            </a:endParaRPr>
          </a:p>
          <a:p>
            <a:pPr marL="0" marR="0" lvl="0" indent="0" algn="l" rtl="0">
              <a:lnSpc>
                <a:spcPct val="150000"/>
              </a:lnSpc>
              <a:spcBef>
                <a:spcPts val="400"/>
              </a:spcBef>
              <a:spcAft>
                <a:spcPts val="0"/>
              </a:spcAft>
              <a:buNone/>
            </a:pPr>
            <a:endParaRPr sz="1200" b="0" i="0" u="none" strike="noStrike" cap="none" dirty="0">
              <a:solidFill>
                <a:schemeClr val="dk1"/>
              </a:solidFill>
              <a:latin typeface="Calibri"/>
              <a:ea typeface="Calibri"/>
              <a:cs typeface="Calibri"/>
              <a:sym typeface="Calibri"/>
            </a:endParaRPr>
          </a:p>
          <a:p>
            <a:pPr marL="0" marR="0" lvl="0" indent="0" algn="l" rtl="0">
              <a:lnSpc>
                <a:spcPct val="150000"/>
              </a:lnSpc>
              <a:spcBef>
                <a:spcPts val="400"/>
              </a:spcBef>
              <a:spcAft>
                <a:spcPts val="0"/>
              </a:spcAft>
              <a:buNone/>
            </a:pPr>
            <a:endParaRPr sz="1200" b="0" i="0" u="none" strike="noStrike" cap="none" dirty="0">
              <a:solidFill>
                <a:schemeClr val="dk1"/>
              </a:solidFill>
              <a:latin typeface="Calibri"/>
              <a:ea typeface="Calibri"/>
              <a:cs typeface="Calibri"/>
              <a:sym typeface="Calibri"/>
            </a:endParaRPr>
          </a:p>
          <a:p>
            <a:pPr marL="0" marR="0" lvl="0" indent="0" algn="l" rtl="0">
              <a:lnSpc>
                <a:spcPct val="150000"/>
              </a:lnSpc>
              <a:spcBef>
                <a:spcPts val="400"/>
              </a:spcBef>
              <a:spcAft>
                <a:spcPts val="0"/>
              </a:spcAft>
              <a:buNone/>
            </a:pP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400"/>
              </a:spcBef>
              <a:spcAft>
                <a:spcPts val="0"/>
              </a:spcAft>
              <a:buNone/>
            </a:pP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400"/>
              </a:spcBef>
              <a:spcAft>
                <a:spcPts val="0"/>
              </a:spcAft>
              <a:buNone/>
            </a:pP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400"/>
              </a:spcBef>
              <a:spcAft>
                <a:spcPts val="0"/>
              </a:spcAft>
              <a:buNone/>
            </a:pP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400"/>
              </a:spcBef>
              <a:spcAft>
                <a:spcPts val="0"/>
              </a:spcAft>
              <a:buNone/>
            </a:pP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400"/>
              </a:spcBef>
              <a:spcAft>
                <a:spcPts val="0"/>
              </a:spcAft>
              <a:buNone/>
            </a:pPr>
            <a:endParaRPr sz="12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5"/>
          <p:cNvSpPr txBox="1"/>
          <p:nvPr/>
        </p:nvSpPr>
        <p:spPr>
          <a:xfrm>
            <a:off x="184200" y="154600"/>
            <a:ext cx="6117900" cy="57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Times New Roman"/>
                <a:ea typeface="Times New Roman"/>
                <a:cs typeface="Times New Roman"/>
                <a:sym typeface="Times New Roman"/>
              </a:rPr>
              <a:t>Problem Statement</a:t>
            </a:r>
            <a:endParaRPr sz="3200">
              <a:solidFill>
                <a:schemeClr val="dk1"/>
              </a:solidFill>
              <a:latin typeface="Times New Roman"/>
              <a:ea typeface="Times New Roman"/>
              <a:cs typeface="Times New Roman"/>
              <a:sym typeface="Times New Roman"/>
            </a:endParaRPr>
          </a:p>
        </p:txBody>
      </p:sp>
      <p:sp>
        <p:nvSpPr>
          <p:cNvPr id="91" name="Google Shape;91;p15"/>
          <p:cNvSpPr txBox="1"/>
          <p:nvPr/>
        </p:nvSpPr>
        <p:spPr>
          <a:xfrm>
            <a:off x="184200" y="1009775"/>
            <a:ext cx="8765700" cy="5558700"/>
          </a:xfrm>
          <a:prstGeom prst="rect">
            <a:avLst/>
          </a:prstGeom>
          <a:noFill/>
          <a:ln>
            <a:noFill/>
          </a:ln>
        </p:spPr>
        <p:txBody>
          <a:bodyPr spcFirstLastPara="1" wrap="square" lIns="91425" tIns="91425" rIns="91425" bIns="91425" anchor="t" anchorCtr="0">
            <a:noAutofit/>
          </a:bodyPr>
          <a:lstStyle/>
          <a:p>
            <a:r>
              <a:rPr lang="en-US" sz="1800" dirty="0">
                <a:latin typeface="Times New Roman" panose="02020603050405020304" pitchFamily="18" charset="0"/>
                <a:cs typeface="Times New Roman" panose="02020603050405020304" pitchFamily="18" charset="0"/>
              </a:rPr>
              <a:t>Traditional search engines cannot access </a:t>
            </a:r>
            <a:r>
              <a:rPr lang="en-US" dirty="0">
                <a:latin typeface="Times New Roman" panose="02020603050405020304" pitchFamily="18" charset="0"/>
                <a:cs typeface="Times New Roman" panose="02020603050405020304" pitchFamily="18" charset="0"/>
              </a:rPr>
              <a:t>.onion</a:t>
            </a:r>
            <a:r>
              <a:rPr lang="en-US" sz="1800" dirty="0">
                <a:latin typeface="Times New Roman" panose="02020603050405020304" pitchFamily="18" charset="0"/>
                <a:cs typeface="Times New Roman" panose="02020603050405020304" pitchFamily="18" charset="0"/>
              </a:rPr>
              <a:t> websites on the dark web, making cybercrime monitoring and threat intelligence difficult. This project develops a Tor-based dark web crawler that automatically discovers onion links, analyzes suspicious content, captures screenshots, and provides real-time monitoring for cybersecurity research and OSINT operations. </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Core Challenges:</a:t>
            </a:r>
          </a:p>
          <a:p>
            <a:endParaRPr lang="en-US" sz="18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Maintaining anonymous and secure access through the Tor network</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Handling slow, unstable, and frequently changing .onion websites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Crawling JavaScript-heavy pages requiring browser automation</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Accurately detecting suspicious content while reducing false positives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8"/>
          <p:cNvSpPr txBox="1"/>
          <p:nvPr/>
        </p:nvSpPr>
        <p:spPr>
          <a:xfrm>
            <a:off x="134850" y="154600"/>
            <a:ext cx="6282300" cy="5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Times New Roman"/>
                <a:ea typeface="Times New Roman"/>
                <a:cs typeface="Times New Roman"/>
                <a:sym typeface="Times New Roman"/>
              </a:rPr>
              <a:t>Objectives</a:t>
            </a:r>
            <a:endParaRPr sz="3200">
              <a:solidFill>
                <a:schemeClr val="dk1"/>
              </a:solidFill>
              <a:latin typeface="Times New Roman"/>
              <a:ea typeface="Times New Roman"/>
              <a:cs typeface="Times New Roman"/>
              <a:sym typeface="Times New Roman"/>
            </a:endParaRPr>
          </a:p>
        </p:txBody>
      </p:sp>
      <p:sp>
        <p:nvSpPr>
          <p:cNvPr id="112" name="Google Shape;112;p18"/>
          <p:cNvSpPr txBox="1"/>
          <p:nvPr/>
        </p:nvSpPr>
        <p:spPr>
          <a:xfrm>
            <a:off x="134850" y="963853"/>
            <a:ext cx="8815200" cy="5591700"/>
          </a:xfrm>
          <a:prstGeom prst="rect">
            <a:avLst/>
          </a:prstGeom>
          <a:noFill/>
          <a:ln>
            <a:noFill/>
          </a:ln>
        </p:spPr>
        <p:txBody>
          <a:bodyPr spcFirstLastPara="1" wrap="square" lIns="91425" tIns="91425" rIns="91425" bIns="91425" anchor="t" anchorCtr="0">
            <a:noAutofit/>
          </a:bodyPr>
          <a:lstStyle/>
          <a:p>
            <a:r>
              <a:rPr lang="en-US" sz="1800" dirty="0">
                <a:latin typeface="Times New Roman" panose="02020603050405020304" pitchFamily="18" charset="0"/>
                <a:cs typeface="Times New Roman" panose="02020603050405020304" pitchFamily="18" charset="0"/>
              </a:rPr>
              <a:t>The objective of this project is to develop a secure and automated dark web crawler capable of accessing .onion websites through the Tor network, collecting and analyzing suspicious content, and providing real-time monitoring for cybersecurity research, threat intelligence, and </a:t>
            </a:r>
            <a:r>
              <a:rPr lang="en-US" sz="1800" b="1" dirty="0">
                <a:latin typeface="Times New Roman" panose="02020603050405020304" pitchFamily="18" charset="0"/>
                <a:cs typeface="Times New Roman" panose="02020603050405020304" pitchFamily="18" charset="0"/>
              </a:rPr>
              <a:t>OSINT</a:t>
            </a:r>
            <a:r>
              <a:rPr lang="en-US" sz="1800" dirty="0">
                <a:latin typeface="Times New Roman" panose="02020603050405020304" pitchFamily="18" charset="0"/>
                <a:cs typeface="Times New Roman" panose="02020603050405020304" pitchFamily="18" charset="0"/>
              </a:rPr>
              <a:t> operations.</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Key Objectives:</a:t>
            </a:r>
          </a:p>
          <a:p>
            <a:endParaRPr lang="en-US" sz="18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Enable anonymous access to .onion websites using the Tor network</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Automatically discover and enumerate dark web links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Implement DFS-based crawling for systematic website exploration</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Detect suspicious keywords and hidden threat-related content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Capture screenshots for evidence preservation and analysis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Store crawled data securely using databases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Provide a live dashboard for monitoring crawler activity and results</a:t>
            </a:r>
            <a:endParaRPr lang="en-US" sz="1800" dirty="0">
              <a:solidFill>
                <a:schemeClr val="dk1"/>
              </a:solidFill>
              <a:latin typeface="Times New Roman" panose="02020603050405020304" pitchFamily="18" charset="0"/>
              <a:cs typeface="Times New Roman" panose="02020603050405020304" pitchFamily="18" charset="0"/>
            </a:endParaRPr>
          </a:p>
          <a:p>
            <a:pPr marL="457200" lvl="0" indent="0" algn="just" rtl="0">
              <a:lnSpc>
                <a:spcPct val="115000"/>
              </a:lnSpc>
              <a:spcBef>
                <a:spcPts val="1200"/>
              </a:spcBef>
              <a:spcAft>
                <a:spcPts val="0"/>
              </a:spcAft>
              <a:buNone/>
            </a:pPr>
            <a:endParaRPr lang="en-US" sz="1800" dirty="0">
              <a:solidFill>
                <a:schemeClr val="dk1"/>
              </a:solidFill>
              <a:latin typeface="Times New Roman" panose="02020603050405020304" pitchFamily="18" charset="0"/>
              <a:cs typeface="Times New Roman" panose="02020603050405020304" pitchFamily="18" charset="0"/>
            </a:endParaRPr>
          </a:p>
          <a:p>
            <a:pPr marL="457200" lvl="0" indent="0" algn="just" rtl="0">
              <a:lnSpc>
                <a:spcPct val="115000"/>
              </a:lnSpc>
              <a:spcBef>
                <a:spcPts val="1200"/>
              </a:spcBef>
              <a:spcAft>
                <a:spcPts val="0"/>
              </a:spcAft>
              <a:buNone/>
            </a:pPr>
            <a:endParaRPr lang="en-US" sz="1800" dirty="0">
              <a:solidFill>
                <a:schemeClr val="dk1"/>
              </a:solidFill>
              <a:latin typeface="Times New Roman" panose="02020603050405020304" pitchFamily="18" charset="0"/>
              <a:cs typeface="Times New Roman" panose="02020603050405020304" pitchFamily="18" charset="0"/>
            </a:endParaRPr>
          </a:p>
          <a:p>
            <a:pPr marL="457200" lvl="0" indent="0" algn="just" rtl="0">
              <a:lnSpc>
                <a:spcPct val="115000"/>
              </a:lnSpc>
              <a:spcBef>
                <a:spcPts val="1200"/>
              </a:spcBef>
              <a:spcAft>
                <a:spcPts val="0"/>
              </a:spcAft>
              <a:buNone/>
            </a:pPr>
            <a:endParaRPr lang="en-US" sz="1800" dirty="0">
              <a:solidFill>
                <a:schemeClr val="dk1"/>
              </a:solidFill>
              <a:latin typeface="Times New Roman" panose="02020603050405020304" pitchFamily="18" charset="0"/>
              <a:cs typeface="Times New Roman" panose="02020603050405020304" pitchFamily="18" charset="0"/>
            </a:endParaRPr>
          </a:p>
          <a:p>
            <a:pPr marL="457200" lvl="0" indent="0" algn="just" rtl="0">
              <a:lnSpc>
                <a:spcPct val="115000"/>
              </a:lnSpc>
              <a:spcBef>
                <a:spcPts val="1200"/>
              </a:spcBef>
              <a:spcAft>
                <a:spcPts val="0"/>
              </a:spcAft>
              <a:buNone/>
            </a:pPr>
            <a:endParaRPr lang="en-US" sz="1800" dirty="0">
              <a:solidFill>
                <a:schemeClr val="dk1"/>
              </a:solidFill>
              <a:latin typeface="Times New Roman" panose="02020603050405020304" pitchFamily="18" charset="0"/>
              <a:cs typeface="Times New Roman" panose="02020603050405020304" pitchFamily="18" charset="0"/>
            </a:endParaRPr>
          </a:p>
          <a:p>
            <a:pPr marL="457200" lvl="0" indent="0" algn="just" rtl="0">
              <a:lnSpc>
                <a:spcPct val="115000"/>
              </a:lnSpc>
              <a:spcBef>
                <a:spcPts val="1200"/>
              </a:spcBef>
              <a:spcAft>
                <a:spcPts val="0"/>
              </a:spcAft>
              <a:buNone/>
            </a:pPr>
            <a:endParaRPr sz="1800" dirty="0">
              <a:solidFill>
                <a:schemeClr val="dk1"/>
              </a:solidFill>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17"/>
          <p:cNvSpPr txBox="1"/>
          <p:nvPr/>
        </p:nvSpPr>
        <p:spPr>
          <a:xfrm>
            <a:off x="118400" y="1026225"/>
            <a:ext cx="8913900" cy="5608200"/>
          </a:xfrm>
          <a:prstGeom prst="rect">
            <a:avLst/>
          </a:prstGeom>
          <a:noFill/>
          <a:ln>
            <a:noFill/>
          </a:ln>
        </p:spPr>
        <p:txBody>
          <a:bodyPr spcFirstLastPara="1" wrap="square" lIns="91425" tIns="91425" rIns="91425" bIns="91425" anchor="t" anchorCtr="0">
            <a:noAutofit/>
          </a:bodyPr>
          <a:lstStyle/>
          <a:p>
            <a:pPr marL="0" lvl="0" indent="0" algn="just" rtl="0">
              <a:spcBef>
                <a:spcPts val="1200"/>
              </a:spcBef>
              <a:spcAft>
                <a:spcPts val="0"/>
              </a:spcAft>
              <a:buNone/>
            </a:pPr>
            <a:endParaRPr sz="3200" dirty="0">
              <a:solidFill>
                <a:schemeClr val="dk1"/>
              </a:solidFill>
              <a:latin typeface="Times New Roman"/>
              <a:ea typeface="Times New Roman"/>
              <a:cs typeface="Times New Roman"/>
              <a:sym typeface="Times New Roman"/>
            </a:endParaRPr>
          </a:p>
        </p:txBody>
      </p:sp>
      <p:sp>
        <p:nvSpPr>
          <p:cNvPr id="4" name="Subtitle 3">
            <a:extLst>
              <a:ext uri="{FF2B5EF4-FFF2-40B4-BE49-F238E27FC236}">
                <a16:creationId xmlns:a16="http://schemas.microsoft.com/office/drawing/2014/main" id="{305E4822-65C3-AA1E-219B-45D9C95BE379}"/>
              </a:ext>
            </a:extLst>
          </p:cNvPr>
          <p:cNvSpPr>
            <a:spLocks noGrp="1"/>
          </p:cNvSpPr>
          <p:nvPr>
            <p:ph type="subTitle" idx="1"/>
          </p:nvPr>
        </p:nvSpPr>
        <p:spPr>
          <a:xfrm>
            <a:off x="118401" y="0"/>
            <a:ext cx="4325780" cy="766121"/>
          </a:xfrm>
        </p:spPr>
        <p:txBody>
          <a:bodyPr/>
          <a:lstStyle/>
          <a:p>
            <a:pPr marL="50800" indent="0">
              <a:buNone/>
            </a:pPr>
            <a:r>
              <a:rPr lang="en-US" dirty="0">
                <a:latin typeface="Times New Roman" panose="02020603050405020304" pitchFamily="18" charset="0"/>
                <a:cs typeface="Times New Roman" panose="02020603050405020304" pitchFamily="18" charset="0"/>
              </a:rPr>
              <a:t> Architecture</a:t>
            </a:r>
            <a:r>
              <a:rPr lang="en-US" dirty="0"/>
              <a:t> </a:t>
            </a:r>
            <a:endParaRPr lang="en-IN" dirty="0"/>
          </a:p>
        </p:txBody>
      </p:sp>
      <p:pic>
        <p:nvPicPr>
          <p:cNvPr id="3" name="Picture 2">
            <a:extLst>
              <a:ext uri="{FF2B5EF4-FFF2-40B4-BE49-F238E27FC236}">
                <a16:creationId xmlns:a16="http://schemas.microsoft.com/office/drawing/2014/main" id="{8ABBD947-F63F-180E-2345-5DE99C778225}"/>
              </a:ext>
            </a:extLst>
          </p:cNvPr>
          <p:cNvPicPr>
            <a:picLocks noChangeAspect="1"/>
          </p:cNvPicPr>
          <p:nvPr/>
        </p:nvPicPr>
        <p:blipFill>
          <a:blip r:embed="rId3"/>
          <a:stretch>
            <a:fillRect/>
          </a:stretch>
        </p:blipFill>
        <p:spPr>
          <a:xfrm>
            <a:off x="0" y="919115"/>
            <a:ext cx="9144000" cy="57153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9"/>
          <p:cNvSpPr txBox="1"/>
          <p:nvPr/>
        </p:nvSpPr>
        <p:spPr>
          <a:xfrm>
            <a:off x="167750" y="171050"/>
            <a:ext cx="6084900" cy="64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Times New Roman"/>
                <a:ea typeface="Times New Roman"/>
                <a:cs typeface="Times New Roman"/>
                <a:sym typeface="Times New Roman"/>
              </a:rPr>
              <a:t>Methodology</a:t>
            </a:r>
            <a:endParaRPr sz="3200">
              <a:solidFill>
                <a:schemeClr val="dk1"/>
              </a:solidFill>
              <a:latin typeface="Times New Roman"/>
              <a:ea typeface="Times New Roman"/>
              <a:cs typeface="Times New Roman"/>
              <a:sym typeface="Times New Roman"/>
            </a:endParaRPr>
          </a:p>
        </p:txBody>
      </p:sp>
      <p:sp>
        <p:nvSpPr>
          <p:cNvPr id="119" name="Google Shape;119;p19"/>
          <p:cNvSpPr txBox="1"/>
          <p:nvPr/>
        </p:nvSpPr>
        <p:spPr>
          <a:xfrm>
            <a:off x="200650" y="1124900"/>
            <a:ext cx="8749200" cy="5427300"/>
          </a:xfrm>
          <a:prstGeom prst="rect">
            <a:avLst/>
          </a:prstGeom>
          <a:noFill/>
          <a:ln>
            <a:noFill/>
          </a:ln>
        </p:spPr>
        <p:txBody>
          <a:bodyPr spcFirstLastPara="1" wrap="square" lIns="91425" tIns="91425" rIns="91425" bIns="91425" anchor="t" anchorCtr="0">
            <a:noAutofit/>
          </a:bodyPr>
          <a:lstStyle/>
          <a:p>
            <a:r>
              <a:rPr lang="en-US" sz="1800" b="1" dirty="0">
                <a:latin typeface="Times New Roman" panose="02020603050405020304" pitchFamily="18" charset="0"/>
                <a:cs typeface="Times New Roman" panose="02020603050405020304" pitchFamily="18" charset="0"/>
              </a:rPr>
              <a:t>1. Tor Network Integration</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crawler connects to the Tor network using the Stem library and routes all requests through a SOCKS proxy. This ensures anonymous and secure communication while accessing .onion websites on the dark web.</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2. DFS-Based Web Crawling</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 Depth-First Search (DFS) algorithm is used to systematically explore onion websites. The crawler stores discovered URLs in a stack and continues crawling until the defined depth limit is reached.</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3. Content Extraction and Parsing</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system retrieves webpage content using Requests and Selenium. HTML pages are parsed using </a:t>
            </a:r>
            <a:r>
              <a:rPr lang="en-US" sz="1800" b="1" dirty="0">
                <a:latin typeface="Times New Roman" panose="02020603050405020304" pitchFamily="18" charset="0"/>
                <a:cs typeface="Times New Roman" panose="02020603050405020304" pitchFamily="18" charset="0"/>
              </a:rPr>
              <a:t>BeautifulSoup and lxml </a:t>
            </a:r>
            <a:r>
              <a:rPr lang="en-US" sz="1800" dirty="0">
                <a:latin typeface="Times New Roman" panose="02020603050405020304" pitchFamily="18" charset="0"/>
                <a:cs typeface="Times New Roman" panose="02020603050405020304" pitchFamily="18" charset="0"/>
              </a:rPr>
              <a:t>to extract hyperlinks, metadata, and relevant textual information from websites.</a:t>
            </a:r>
            <a:endParaRPr lang="en-IN" sz="1800" dirty="0">
              <a:latin typeface="Times New Roman" panose="02020603050405020304" pitchFamily="18" charset="0"/>
              <a:ea typeface="Tahoma" panose="020B0604030504040204" pitchFamily="34"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35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p:nvPr/>
        </p:nvSpPr>
        <p:spPr>
          <a:xfrm>
            <a:off x="200650" y="256450"/>
            <a:ext cx="59535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solidFill>
                  <a:schemeClr val="dk1"/>
                </a:solidFill>
                <a:latin typeface="Times New Roman"/>
                <a:ea typeface="Times New Roman"/>
                <a:cs typeface="Times New Roman"/>
                <a:sym typeface="Times New Roman"/>
              </a:rPr>
              <a:t>Methodology </a:t>
            </a:r>
            <a:endParaRPr sz="3200" dirty="0">
              <a:solidFill>
                <a:schemeClr val="dk1"/>
              </a:solidFill>
              <a:latin typeface="Times New Roman"/>
              <a:ea typeface="Times New Roman"/>
              <a:cs typeface="Times New Roman"/>
              <a:sym typeface="Times New Roman"/>
            </a:endParaRPr>
          </a:p>
        </p:txBody>
      </p:sp>
      <p:sp>
        <p:nvSpPr>
          <p:cNvPr id="140" name="Google Shape;140;p22"/>
          <p:cNvSpPr txBox="1"/>
          <p:nvPr/>
        </p:nvSpPr>
        <p:spPr>
          <a:xfrm>
            <a:off x="200650" y="993350"/>
            <a:ext cx="8700000" cy="5608200"/>
          </a:xfrm>
          <a:prstGeom prst="rect">
            <a:avLst/>
          </a:prstGeom>
          <a:noFill/>
          <a:ln>
            <a:noFill/>
          </a:ln>
        </p:spPr>
        <p:txBody>
          <a:bodyPr spcFirstLastPara="1" wrap="square" lIns="91425" tIns="91425" rIns="91425" bIns="91425" anchor="t" anchorCtr="0">
            <a:noAutofit/>
          </a:bodyPr>
          <a:lstStyle/>
          <a:p>
            <a:r>
              <a:rPr lang="en-US" sz="1800" dirty="0">
                <a:latin typeface="Times New Roman" panose="02020603050405020304" pitchFamily="18" charset="0"/>
                <a:cs typeface="Times New Roman" panose="02020603050405020304" pitchFamily="18" charset="0"/>
              </a:rPr>
              <a:t>Filtering operations include:</a:t>
            </a:r>
          </a:p>
          <a:p>
            <a:r>
              <a:rPr lang="en-US" sz="1800" dirty="0">
                <a:latin typeface="Times New Roman" panose="02020603050405020304" pitchFamily="18" charset="0"/>
                <a:cs typeface="Times New Roman" panose="02020603050405020304" pitchFamily="18" charset="0"/>
              </a:rPr>
              <a:t>Event selection based on event IDs and severity </a:t>
            </a:r>
          </a:p>
          <a:p>
            <a:r>
              <a:rPr lang="en-US" sz="1800" dirty="0">
                <a:latin typeface="Times New Roman" panose="02020603050405020304" pitchFamily="18" charset="0"/>
                <a:cs typeface="Times New Roman" panose="02020603050405020304" pitchFamily="18" charset="0"/>
              </a:rPr>
              <a:t>Removal of duplicate or noisy logs </a:t>
            </a:r>
          </a:p>
          <a:p>
            <a:r>
              <a:rPr lang="en-US" sz="1800" dirty="0">
                <a:latin typeface="Times New Roman" panose="02020603050405020304" pitchFamily="18" charset="0"/>
                <a:cs typeface="Times New Roman" panose="02020603050405020304" pitchFamily="18" charset="0"/>
              </a:rPr>
              <a:t>Log normalization and structured formatting </a:t>
            </a:r>
          </a:p>
          <a:p>
            <a:r>
              <a:rPr lang="en-US" sz="1800" dirty="0">
                <a:latin typeface="Times New Roman" panose="02020603050405020304" pitchFamily="18" charset="0"/>
                <a:cs typeface="Times New Roman" panose="02020603050405020304" pitchFamily="18" charset="0"/>
              </a:rPr>
              <a:t>Secure forwarding of filtered telemetry </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3. Mutual Exclusion with Sysmon Configuration</a:t>
            </a:r>
          </a:p>
          <a:p>
            <a:r>
              <a:rPr lang="en-US" sz="1800" dirty="0">
                <a:latin typeface="Times New Roman" panose="02020603050405020304" pitchFamily="18" charset="0"/>
                <a:cs typeface="Times New Roman" panose="02020603050405020304" pitchFamily="18" charset="0"/>
              </a:rPr>
              <a:t>To further optimize telemetry reduction, a mutual exclusion mechanism is implemented by excluding telemetry events that are already monitored and captured by Sysmon according to its existing configuration file. This avoids duplication of monitoring data between ETW-based telemetry collection and Sysmon-generated logs. By eliminating overlapping events, the framework reduces redundant telemetry ingestion and improves overall efficiency in event processing and storage utilization.</a:t>
            </a:r>
          </a:p>
          <a:p>
            <a:r>
              <a:rPr lang="en-US" sz="1800" b="1" dirty="0">
                <a:latin typeface="Times New Roman" panose="02020603050405020304" pitchFamily="18" charset="0"/>
                <a:cs typeface="Times New Roman" panose="02020603050405020304" pitchFamily="18" charset="0"/>
              </a:rPr>
              <a:t>4. Custom Python Detection Engine</a:t>
            </a:r>
          </a:p>
          <a:p>
            <a:r>
              <a:rPr lang="en-US" sz="1800" dirty="0">
                <a:latin typeface="Times New Roman" panose="02020603050405020304" pitchFamily="18" charset="0"/>
                <a:cs typeface="Times New Roman" panose="02020603050405020304" pitchFamily="18" charset="0"/>
              </a:rPr>
              <a:t>The reduced telemetry is processed by a custom Python-based detection engine. This module applies custom detection logic to identify suspicious or malicious activities from the filtered events. The detection engine focuses on identifying actionable behaviors while avoiding unnecessary processing of irrelevant telemetry</a:t>
            </a:r>
            <a:r>
              <a:rPr lang="en-US" sz="1800" dirty="0"/>
              <a:t>.</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txBox="1"/>
          <p:nvPr/>
        </p:nvSpPr>
        <p:spPr>
          <a:xfrm>
            <a:off x="167750" y="171050"/>
            <a:ext cx="6084900" cy="64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solidFill>
                  <a:schemeClr val="dk1"/>
                </a:solidFill>
                <a:latin typeface="Times New Roman"/>
                <a:ea typeface="Times New Roman"/>
                <a:cs typeface="Times New Roman"/>
                <a:sym typeface="Times New Roman"/>
              </a:rPr>
              <a:t>Methodology</a:t>
            </a:r>
            <a:endParaRPr sz="3200" dirty="0">
              <a:solidFill>
                <a:schemeClr val="dk1"/>
              </a:solidFill>
              <a:latin typeface="Times New Roman"/>
              <a:ea typeface="Times New Roman"/>
              <a:cs typeface="Times New Roman"/>
              <a:sym typeface="Times New Roman"/>
            </a:endParaRPr>
          </a:p>
        </p:txBody>
      </p:sp>
      <p:sp>
        <p:nvSpPr>
          <p:cNvPr id="126" name="Google Shape;126;p20"/>
          <p:cNvSpPr txBox="1"/>
          <p:nvPr/>
        </p:nvSpPr>
        <p:spPr>
          <a:xfrm>
            <a:off x="227050" y="812450"/>
            <a:ext cx="8749200" cy="5427300"/>
          </a:xfrm>
          <a:prstGeom prst="rect">
            <a:avLst/>
          </a:prstGeom>
          <a:noFill/>
          <a:ln>
            <a:noFill/>
          </a:ln>
        </p:spPr>
        <p:txBody>
          <a:bodyPr spcFirstLastPara="1" wrap="square" lIns="91425" tIns="91425" rIns="91425" bIns="91425" anchor="t" anchorCtr="0">
            <a:noAutofit/>
          </a:bodyPr>
          <a:lstStyle/>
          <a:p>
            <a:r>
              <a:rPr lang="en-US" sz="1800" b="1" dirty="0">
                <a:latin typeface="Times New Roman" panose="02020603050405020304" pitchFamily="18" charset="0"/>
                <a:cs typeface="Times New Roman" panose="02020603050405020304" pitchFamily="18" charset="0"/>
              </a:rPr>
              <a:t>4. Keyword Detection and Analysis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crawler analyzes webpage content using exact and fuzzy keyword matching techniques. Suspicious terms related to cybercrime, hacking, drugs, or illegal activities are identified with confidence scores for better accuracy.</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5. Screenshot Capture and Monitoring</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When suspicious content is detected, Selenium captures screenshots of webpages for evidence preservation. A Flask-based dashboard displays live crawler activity, detected keywords, screenshots, and crawl statistics in real time.</a:t>
            </a:r>
          </a:p>
          <a:p>
            <a:pPr marL="0" lvl="0" indent="0" algn="l" rtl="0">
              <a:spcBef>
                <a:spcPts val="1200"/>
              </a:spcBef>
              <a:spcAft>
                <a:spcPts val="0"/>
              </a:spcAft>
              <a:buNone/>
            </a:pPr>
            <a:endParaRPr sz="35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CAC59-4336-8780-8E6B-1822A200CAD7}"/>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 Working Screenshots</a:t>
            </a:r>
            <a:endParaRPr lang="en-IN" sz="32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A7F2250-3FEF-C8A6-20FE-81A39B013794}"/>
              </a:ext>
            </a:extLst>
          </p:cNvPr>
          <p:cNvSpPr>
            <a:spLocks noGrp="1"/>
          </p:cNvSpPr>
          <p:nvPr>
            <p:ph type="body" idx="1"/>
          </p:nvPr>
        </p:nvSpPr>
        <p:spPr/>
        <p:txBody>
          <a:bodyPr>
            <a:normAutofit/>
          </a:bodyPr>
          <a:lstStyle/>
          <a:p>
            <a:r>
              <a:rPr lang="en-US" sz="1800" dirty="0">
                <a:latin typeface="Times New Roman" panose="02020603050405020304" pitchFamily="18" charset="0"/>
                <a:cs typeface="Times New Roman" panose="02020603050405020304" pitchFamily="18" charset="0"/>
              </a:rPr>
              <a:t>Dashboard Running: </a:t>
            </a: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D4039D2-D79D-3909-290B-765207737F42}"/>
              </a:ext>
            </a:extLst>
          </p:cNvPr>
          <p:cNvPicPr>
            <a:picLocks noChangeAspect="1"/>
          </p:cNvPicPr>
          <p:nvPr/>
        </p:nvPicPr>
        <p:blipFill>
          <a:blip r:embed="rId2"/>
          <a:stretch>
            <a:fillRect/>
          </a:stretch>
        </p:blipFill>
        <p:spPr>
          <a:xfrm>
            <a:off x="95381" y="2132748"/>
            <a:ext cx="8953237" cy="4235737"/>
          </a:xfrm>
          <a:prstGeom prst="rect">
            <a:avLst/>
          </a:prstGeom>
        </p:spPr>
      </p:pic>
    </p:spTree>
    <p:extLst>
      <p:ext uri="{BB962C8B-B14F-4D97-AF65-F5344CB8AC3E}">
        <p14:creationId xmlns:p14="http://schemas.microsoft.com/office/powerpoint/2010/main" val="1343597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5707C-8364-0FFF-D7A3-40D8C9AE7C59}"/>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Working Screenshot</a:t>
            </a:r>
            <a:endParaRPr lang="en-IN" sz="32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F44B7CD-AAB5-0298-A1A5-4FF3A8B22F65}"/>
              </a:ext>
            </a:extLst>
          </p:cNvPr>
          <p:cNvSpPr>
            <a:spLocks noGrp="1"/>
          </p:cNvSpPr>
          <p:nvPr>
            <p:ph type="body" idx="1"/>
          </p:nvPr>
        </p:nvSpPr>
        <p:spPr/>
        <p:txBody>
          <a:bodyPr>
            <a:normAutofit/>
          </a:bodyPr>
          <a:lstStyle/>
          <a:p>
            <a:r>
              <a:rPr lang="en-US" sz="1800" dirty="0">
                <a:latin typeface="Times New Roman" panose="02020603050405020304" pitchFamily="18" charset="0"/>
                <a:cs typeface="Times New Roman" panose="02020603050405020304" pitchFamily="18" charset="0"/>
              </a:rPr>
              <a:t>Dashboard Overview: Keywords Associated, Timestamp </a:t>
            </a:r>
          </a:p>
          <a:p>
            <a:pPr marL="114300" indent="0">
              <a:buNone/>
            </a:pPr>
            <a:endParaRPr lang="en-US"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4AB1570-B5B6-A16D-36DE-A071A27058DA}"/>
              </a:ext>
            </a:extLst>
          </p:cNvPr>
          <p:cNvPicPr>
            <a:picLocks noChangeAspect="1"/>
          </p:cNvPicPr>
          <p:nvPr/>
        </p:nvPicPr>
        <p:blipFill>
          <a:blip r:embed="rId2"/>
          <a:stretch>
            <a:fillRect/>
          </a:stretch>
        </p:blipFill>
        <p:spPr>
          <a:xfrm>
            <a:off x="0" y="2182760"/>
            <a:ext cx="9052560" cy="4493342"/>
          </a:xfrm>
          <a:prstGeom prst="rect">
            <a:avLst/>
          </a:prstGeom>
        </p:spPr>
      </p:pic>
    </p:spTree>
    <p:extLst>
      <p:ext uri="{BB962C8B-B14F-4D97-AF65-F5344CB8AC3E}">
        <p14:creationId xmlns:p14="http://schemas.microsoft.com/office/powerpoint/2010/main" val="3053477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10679-306A-6F2C-5DDC-FC7710187716}"/>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 Working Screenshots</a:t>
            </a:r>
            <a:endParaRPr lang="en-IN" sz="32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19903D1-B2AC-1767-C811-D04C3481885C}"/>
              </a:ext>
            </a:extLst>
          </p:cNvPr>
          <p:cNvSpPr>
            <a:spLocks noGrp="1"/>
          </p:cNvSpPr>
          <p:nvPr>
            <p:ph type="body" idx="1"/>
          </p:nvPr>
        </p:nvSpPr>
        <p:spPr/>
        <p:txBody>
          <a:bodyPr>
            <a:normAutofit/>
          </a:bodyPr>
          <a:lstStyle/>
          <a:p>
            <a:r>
              <a:rPr lang="en-US" sz="1800" dirty="0">
                <a:latin typeface="Times New Roman" panose="02020603050405020304" pitchFamily="18" charset="0"/>
                <a:cs typeface="Times New Roman" panose="02020603050405020304" pitchFamily="18" charset="0"/>
              </a:rPr>
              <a:t>Screenshots Captured during real time : Onion Link directory and Gdark Search Engine</a:t>
            </a:r>
          </a:p>
          <a:p>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C61F4E7-0588-7373-C3A1-727AF1AA82A1}"/>
              </a:ext>
            </a:extLst>
          </p:cNvPr>
          <p:cNvPicPr>
            <a:picLocks noChangeAspect="1"/>
          </p:cNvPicPr>
          <p:nvPr/>
        </p:nvPicPr>
        <p:blipFill>
          <a:blip r:embed="rId2"/>
          <a:stretch>
            <a:fillRect/>
          </a:stretch>
        </p:blipFill>
        <p:spPr>
          <a:xfrm>
            <a:off x="0" y="2394399"/>
            <a:ext cx="4355690" cy="3701599"/>
          </a:xfrm>
          <a:prstGeom prst="rect">
            <a:avLst/>
          </a:prstGeom>
        </p:spPr>
      </p:pic>
      <p:pic>
        <p:nvPicPr>
          <p:cNvPr id="5" name="Picture 4">
            <a:extLst>
              <a:ext uri="{FF2B5EF4-FFF2-40B4-BE49-F238E27FC236}">
                <a16:creationId xmlns:a16="http://schemas.microsoft.com/office/drawing/2014/main" id="{5EF854D9-D6D4-7C74-82B6-8C96DC6DAD2E}"/>
              </a:ext>
            </a:extLst>
          </p:cNvPr>
          <p:cNvPicPr>
            <a:picLocks noChangeAspect="1"/>
          </p:cNvPicPr>
          <p:nvPr/>
        </p:nvPicPr>
        <p:blipFill>
          <a:blip r:embed="rId3"/>
          <a:stretch>
            <a:fillRect/>
          </a:stretch>
        </p:blipFill>
        <p:spPr>
          <a:xfrm>
            <a:off x="4355690" y="2394399"/>
            <a:ext cx="4788310" cy="3877880"/>
          </a:xfrm>
          <a:prstGeom prst="rect">
            <a:avLst/>
          </a:prstGeom>
        </p:spPr>
      </p:pic>
    </p:spTree>
    <p:extLst>
      <p:ext uri="{BB962C8B-B14F-4D97-AF65-F5344CB8AC3E}">
        <p14:creationId xmlns:p14="http://schemas.microsoft.com/office/powerpoint/2010/main" val="1147581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B36F6-7ABE-2E3A-50F2-CCCE10573F52}"/>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 Future Scope</a:t>
            </a:r>
            <a:endParaRPr lang="en-IN" sz="32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BB0B075-2C81-2BE0-1DD7-067F929AC900}"/>
              </a:ext>
            </a:extLst>
          </p:cNvPr>
          <p:cNvSpPr>
            <a:spLocks noGrp="1"/>
          </p:cNvSpPr>
          <p:nvPr>
            <p:ph type="body" idx="1"/>
          </p:nvPr>
        </p:nvSpPr>
        <p:spPr>
          <a:xfrm>
            <a:off x="176981" y="1012723"/>
            <a:ext cx="8509459" cy="4569077"/>
          </a:xfrm>
        </p:spPr>
        <p:txBody>
          <a:bodyPr>
            <a:normAutofit/>
          </a:bodyPr>
          <a:lstStyle/>
          <a:p>
            <a:pPr marL="114300" indent="0">
              <a:buNone/>
            </a:pPr>
            <a:r>
              <a:rPr lang="en-US" sz="1800" dirty="0">
                <a:latin typeface="Times New Roman" panose="02020603050405020304" pitchFamily="18" charset="0"/>
                <a:cs typeface="Times New Roman" panose="02020603050405020304" pitchFamily="18" charset="0"/>
              </a:rPr>
              <a:t>The project can be enhanced using Agentic AI and Large Language Models (LLMs) for intelligent threat analysis and automated decision-making. AI agents can autonomously classify dark web content, summarize suspicious activities, detect emerging cyber threats, and prioritize high-risk websites. LLMs can improve contextual understanding, multilingual analysis, and real-time reporting, making the crawler more adaptive, scalable, and efficient for advanced cybersecurity and threat intelligence operations.</a:t>
            </a:r>
          </a:p>
          <a:p>
            <a:pPr marL="114300" indent="0">
              <a:buNone/>
            </a:pPr>
            <a:endParaRPr lang="en-US"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GPT/Claude– </a:t>
            </a:r>
            <a:r>
              <a:rPr lang="en-IN" sz="1800" dirty="0">
                <a:latin typeface="Times New Roman" panose="02020603050405020304" pitchFamily="18" charset="0"/>
                <a:cs typeface="Times New Roman" panose="02020603050405020304" pitchFamily="18" charset="0"/>
              </a:rPr>
              <a:t>Can analyze and summarize dark web content for faster threat intelligence reporting.</a:t>
            </a:r>
          </a:p>
          <a:p>
            <a:r>
              <a:rPr lang="en-IN" sz="1800" b="1" dirty="0">
                <a:latin typeface="Times New Roman" panose="02020603050405020304" pitchFamily="18" charset="0"/>
                <a:cs typeface="Times New Roman" panose="02020603050405020304" pitchFamily="18" charset="0"/>
              </a:rPr>
              <a:t>LangChain Agents </a:t>
            </a:r>
            <a:r>
              <a:rPr lang="en-IN" sz="1800" dirty="0">
                <a:latin typeface="Times New Roman" panose="02020603050405020304" pitchFamily="18" charset="0"/>
                <a:cs typeface="Times New Roman" panose="02020603050405020304" pitchFamily="18" charset="0"/>
              </a:rPr>
              <a:t>– Enables autonomous AI agents to perform intelligent crawling, filtering, and decision-making tasks.</a:t>
            </a:r>
          </a:p>
          <a:p>
            <a:r>
              <a:rPr lang="en-IN" sz="1800" b="1" dirty="0">
                <a:latin typeface="Times New Roman" panose="02020603050405020304" pitchFamily="18" charset="0"/>
                <a:cs typeface="Times New Roman" panose="02020603050405020304" pitchFamily="18" charset="0"/>
              </a:rPr>
              <a:t>LLaMA (Meta AI) </a:t>
            </a:r>
            <a:r>
              <a:rPr lang="en-IN" sz="1800" dirty="0">
                <a:latin typeface="Times New Roman" panose="02020603050405020304" pitchFamily="18" charset="0"/>
                <a:cs typeface="Times New Roman" panose="02020603050405020304" pitchFamily="18" charset="0"/>
              </a:rPr>
              <a:t>– Useful for offline and privacy-focused analysis of suspicious dark web data.</a:t>
            </a:r>
          </a:p>
          <a:p>
            <a:r>
              <a:rPr lang="en-IN" sz="1800" b="1" dirty="0">
                <a:latin typeface="Times New Roman" panose="02020603050405020304" pitchFamily="18" charset="0"/>
                <a:cs typeface="Times New Roman" panose="02020603050405020304" pitchFamily="18" charset="0"/>
              </a:rPr>
              <a:t>AutoGen (Microsoft) </a:t>
            </a:r>
            <a:r>
              <a:rPr lang="en-IN" sz="1800" dirty="0">
                <a:latin typeface="Times New Roman" panose="02020603050405020304" pitchFamily="18" charset="0"/>
                <a:cs typeface="Times New Roman" panose="02020603050405020304" pitchFamily="18" charset="0"/>
              </a:rPr>
              <a:t>– Supports multi-agent collaboration for automated cyber threat detection and investigation workflows.</a:t>
            </a:r>
          </a:p>
        </p:txBody>
      </p:sp>
    </p:spTree>
    <p:extLst>
      <p:ext uri="{BB962C8B-B14F-4D97-AF65-F5344CB8AC3E}">
        <p14:creationId xmlns:p14="http://schemas.microsoft.com/office/powerpoint/2010/main" val="392020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p:nvPr/>
        </p:nvSpPr>
        <p:spPr>
          <a:xfrm>
            <a:off x="151300" y="187475"/>
            <a:ext cx="6052200" cy="49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Times New Roman"/>
                <a:ea typeface="Times New Roman"/>
                <a:cs typeface="Times New Roman"/>
                <a:sym typeface="Times New Roman"/>
              </a:rPr>
              <a:t>Conclusion</a:t>
            </a:r>
            <a:endParaRPr sz="3200">
              <a:solidFill>
                <a:schemeClr val="dk1"/>
              </a:solidFill>
              <a:latin typeface="Times New Roman"/>
              <a:ea typeface="Times New Roman"/>
              <a:cs typeface="Times New Roman"/>
              <a:sym typeface="Times New Roman"/>
            </a:endParaRPr>
          </a:p>
        </p:txBody>
      </p:sp>
      <p:sp>
        <p:nvSpPr>
          <p:cNvPr id="161" name="Google Shape;161;p25"/>
          <p:cNvSpPr txBox="1"/>
          <p:nvPr/>
        </p:nvSpPr>
        <p:spPr>
          <a:xfrm>
            <a:off x="167750" y="993350"/>
            <a:ext cx="8667000" cy="5460000"/>
          </a:xfrm>
          <a:prstGeom prst="rect">
            <a:avLst/>
          </a:prstGeom>
          <a:noFill/>
          <a:ln>
            <a:noFill/>
          </a:ln>
        </p:spPr>
        <p:txBody>
          <a:bodyPr spcFirstLastPara="1" wrap="square" lIns="91425" tIns="91425" rIns="91425" bIns="91425" anchor="t" anchorCtr="0">
            <a:noAutofit/>
          </a:bodyPr>
          <a:lstStyle/>
          <a:p>
            <a:r>
              <a:rPr lang="en-US" sz="1800" dirty="0">
                <a:latin typeface="Times New Roman" panose="02020603050405020304" pitchFamily="18" charset="0"/>
                <a:cs typeface="Times New Roman" panose="02020603050405020304" pitchFamily="18" charset="0"/>
              </a:rPr>
              <a:t>The Automated Onion Link Enumeration System successfully demonstrates secure and efficient dark web monitoring using the Tor network. The project enables automated crawling of .onion websites, suspicious keyword detection, screenshot capture, and real-time monitoring through a dashboard. It highlights the importance of cybersecurity tools for threat intelligence, OSINT gathering, and ethical dark web analysis. </a:t>
            </a:r>
          </a:p>
          <a:p>
            <a:endParaRPr lang="en-US" sz="1800" b="1" u="sng" dirty="0">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sz="37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7"/>
          <p:cNvSpPr txBox="1"/>
          <p:nvPr/>
        </p:nvSpPr>
        <p:spPr>
          <a:xfrm>
            <a:off x="1297577" y="2821578"/>
            <a:ext cx="6705599" cy="141078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5400" b="0" i="0" u="none" strike="noStrike" cap="none">
                <a:solidFill>
                  <a:schemeClr val="dk1"/>
                </a:solidFill>
                <a:latin typeface="Times New Roman"/>
                <a:ea typeface="Times New Roman"/>
                <a:cs typeface="Times New Roman"/>
                <a:sym typeface="Times New Roman"/>
              </a:rPr>
              <a:t>Thank You</a:t>
            </a:r>
            <a:endParaRPr sz="5400" b="0" i="0" u="none" strike="noStrike" cap="none">
              <a:solidFill>
                <a:srgbClr val="000000"/>
              </a:solidFill>
              <a:latin typeface="Times New Roman"/>
              <a:ea typeface="Times New Roman"/>
              <a:cs typeface="Times New Roman"/>
              <a:sym typeface="Times New Roman"/>
            </a:endParaRPr>
          </a:p>
        </p:txBody>
      </p:sp>
      <p:sp>
        <p:nvSpPr>
          <p:cNvPr id="174" name="Google Shape;174;p27"/>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14</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TotalTime>
  <Words>995</Words>
  <Application>Microsoft Office PowerPoint</Application>
  <PresentationFormat>On-screen Show (4:3)</PresentationFormat>
  <Paragraphs>127</Paragraphs>
  <Slides>14</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Calibri</vt:lpstr>
      <vt:lpstr>Lato</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Working Screenshots</vt:lpstr>
      <vt:lpstr>Working Screenshot</vt:lpstr>
      <vt:lpstr> Working Screenshots</vt:lpstr>
      <vt:lpstr> Future Scope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Nishant</dc:creator>
  <cp:lastModifiedBy>Nishant Dinesh Ramnath</cp:lastModifiedBy>
  <cp:revision>10</cp:revision>
  <dcterms:modified xsi:type="dcterms:W3CDTF">2026-05-25T10:03:41Z</dcterms:modified>
</cp:coreProperties>
</file>